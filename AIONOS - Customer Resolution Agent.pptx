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10076"/>
            <a:ext cx="106680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610076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10650" y="638175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23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95325"/>
            <a:ext cx="1905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266950"/>
            <a:ext cx="1095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FROM CUSTOMER REQUEST TO POLICY-AWARE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28900"/>
            <a:ext cx="9301162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Inter"/>
              </a:rPr>
              <a:t>AIONOS – Customer</a:t>
            </a:r>
            <a:r>
              <a:t>
</a:t>
            </a:r>
            <a:r>
              <a:rPr b="1" sz="4050" i="0" u="none">
                <a:solidFill>
                  <a:srgbClr val="FFFFFF"/>
                </a:solidFill>
                <a:latin typeface="Inter"/>
              </a:rPr>
              <a:t> Resolution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02285"/>
            <a:ext cx="10953750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AI-Powered Customer Service Resolution &amp; Policy Decisioning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2200" y="6086326"/>
            <a:ext cx="180975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v1.0 Technical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681037"/>
            <a:ext cx="1057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AIONOS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95325"/>
            <a:ext cx="2247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ENTERPRISE ARCHITECTURE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886301"/>
            <a:ext cx="2452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FOCUS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067276"/>
            <a:ext cx="2452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Airline Operations &amp;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5150" y="5886301"/>
            <a:ext cx="2762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CORE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150" y="6067276"/>
            <a:ext cx="2762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LangGraph Policy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5950" y="5886301"/>
            <a:ext cx="25122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5950" y="6067276"/>
            <a:ext cx="2512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FastAPI + React 19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457200"/>
            <a:ext cx="1752600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764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3049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04925"/>
            <a:ext cx="38100" cy="781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2875" y="1304925"/>
            <a:ext cx="9525" cy="781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626471"/>
            <a:ext cx="10972800" cy="1167407"/>
          </a:xfrm>
          <a:prstGeom prst="roundRect">
            <a:avLst>
              <a:gd name="adj" fmla="val 81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2959596"/>
            <a:ext cx="1905000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76550" y="2959596"/>
            <a:ext cx="1905000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43500" y="2959596"/>
            <a:ext cx="1905000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10450" y="2959596"/>
            <a:ext cx="1905000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77400" y="2959596"/>
            <a:ext cx="1905000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8100" y="4826496"/>
            <a:ext cx="9525" cy="7673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2425" y="4924425"/>
            <a:ext cx="230505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19875" y="4924425"/>
            <a:ext cx="230505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7325" y="4924425"/>
            <a:ext cx="230505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564433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3564433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564433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3564433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3159621"/>
            <a:ext cx="342900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159621"/>
            <a:ext cx="342900" cy="342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3159621"/>
            <a:ext cx="342900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3159621"/>
            <a:ext cx="342900" cy="3429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8450" y="3159621"/>
            <a:ext cx="342900" cy="342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6850" y="3254871"/>
            <a:ext cx="1905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375" y="3254871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3254871"/>
            <a:ext cx="1905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6275" y="3254871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3254871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5300" y="5067300"/>
            <a:ext cx="104775" cy="114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0" y="5067300"/>
            <a:ext cx="104775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0200" y="5067300"/>
            <a:ext cx="85725" cy="114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44100" y="514350"/>
            <a:ext cx="1619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Multi-Variable Decisioning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1466850"/>
            <a:ext cx="10639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Customer requests are rarely simple FAQ queries. In irregular operations (IRROPS), travelers submit simultaneous compound requests requiring real-time cross-referencing of operational state against strict contractual fare policies.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457200"/>
            <a:ext cx="768548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PROBLEM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66750"/>
            <a:ext cx="8069758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The Customer Service Resolution Problem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625" y="4826496"/>
            <a:ext cx="2952750" cy="767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INCOMING RAW MESSAGE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476" y="3597771"/>
            <a:ext cx="197524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Customer Request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506" y="3835896"/>
            <a:ext cx="18811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Compound multi-intent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1426" y="3597771"/>
            <a:ext cx="197524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Context Synthesis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8456" y="3835896"/>
            <a:ext cx="18811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PNR, tier status, delay records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8376" y="3597771"/>
            <a:ext cx="197524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Policy Evaluation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5406" y="3835896"/>
            <a:ext cx="18811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Fare clauses, delay thresholds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5326" y="3597771"/>
            <a:ext cx="197524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Decision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2356" y="3835896"/>
            <a:ext cx="18811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Automate vs human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2276" y="3597771"/>
            <a:ext cx="197524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Actionable 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9306" y="3835896"/>
            <a:ext cx="18811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Voucher, rebooking, or routing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625" y="5074146"/>
            <a:ext cx="29432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1" u="none">
                <a:solidFill>
                  <a:srgbClr val="1E293B"/>
                </a:solidFill>
                <a:latin typeface="Inter"/>
              </a:rPr>
              <a:t>"My flight SK-204 is cancelled. Can I get a full refund, rebook for tomorrow morning, and get upgraded to business class for the trouble?"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05300" y="5048250"/>
            <a:ext cx="2524125" cy="142875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Inter"/>
              </a:rPr>
              <a:t>Intent 1: Refund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5300" y="5229225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Eligible: Cancellation policy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2750" y="5048250"/>
            <a:ext cx="2524125" cy="142875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Inter"/>
              </a:rPr>
              <a:t>Intent 2: Rebooking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2750" y="5229225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Eligible: 24h window free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20200" y="5048250"/>
            <a:ext cx="2524125" cy="14287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Inter"/>
              </a:rPr>
              <a:t>Intent 3: Upgrade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0200" y="5229225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Unsupported: Route to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38850"/>
            <a:ext cx="109728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4100" y="457200"/>
            <a:ext cx="16383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388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86322"/>
            <a:ext cx="3555950" cy="1176932"/>
          </a:xfrm>
          <a:prstGeom prst="roundRect">
            <a:avLst>
              <a:gd name="adj" fmla="val 80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2486322"/>
            <a:ext cx="3555950" cy="1176932"/>
          </a:xfrm>
          <a:prstGeom prst="roundRect">
            <a:avLst>
              <a:gd name="adj" fmla="val 80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2486322"/>
            <a:ext cx="3555950" cy="1176932"/>
          </a:xfrm>
          <a:prstGeom prst="roundRect">
            <a:avLst>
              <a:gd name="adj" fmla="val 80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815655"/>
            <a:ext cx="3555950" cy="1003696"/>
          </a:xfrm>
          <a:prstGeom prst="roundRect">
            <a:avLst>
              <a:gd name="adj" fmla="val 94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7950" y="3815655"/>
            <a:ext cx="3555950" cy="1003696"/>
          </a:xfrm>
          <a:prstGeom prst="roundRect">
            <a:avLst>
              <a:gd name="adj" fmla="val 94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26300" y="3815655"/>
            <a:ext cx="3555950" cy="1003696"/>
          </a:xfrm>
          <a:prstGeom prst="roundRect">
            <a:avLst>
              <a:gd name="adj" fmla="val 94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0063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75" y="2700635"/>
            <a:ext cx="1714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270063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029967"/>
            <a:ext cx="1143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975" y="4029967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6325" y="4029967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58400" y="514350"/>
            <a:ext cx="150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Operational Bottlenecks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19825"/>
            <a:ext cx="7084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"Customer service needs an intelligent decision layer — not just another chatbot."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0" y="6234112"/>
            <a:ext cx="1500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AIONOS Core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8155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SYSTEMIC 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856357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Why Traditional Customer Support Struggles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943522"/>
            <a:ext cx="32511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CRM records, PNR ticketing, and real-time flight telemetry reside across disconnected silos.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975" y="2943522"/>
            <a:ext cx="32511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Conditional matrix rules based on delay duration, cancellation cause, and cabin fare class.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325" y="2943522"/>
            <a:ext cx="32511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Human agents apply subjective interpretations, producing variable customer compensation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272855"/>
            <a:ext cx="32511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Manual lookup across internal knowledge bases extends handle times during peak disruptions.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975" y="4272855"/>
            <a:ext cx="32511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Lack of definitive boundary triggers between automated action limits and supervisor overrides.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6325" y="4272855"/>
            <a:ext cx="32511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Traditional chatbots fail to provide audit trails or policy citations justifying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686347"/>
            <a:ext cx="19002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Fragmented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4675" y="2686347"/>
            <a:ext cx="166270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Policy Complexity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3975" y="2686347"/>
            <a:ext cx="206275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Inconsistent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175" y="4015680"/>
            <a:ext cx="197524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Slow Resolution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5625" y="4015680"/>
            <a:ext cx="20877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Escalation Uncertainty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3975" y="4015680"/>
            <a:ext cx="171271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Opaque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58450" y="457200"/>
            <a:ext cx="11239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4856" y="1690687"/>
            <a:ext cx="5347543" cy="428625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2981" y="2176462"/>
            <a:ext cx="4871293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2981" y="2957512"/>
            <a:ext cx="4871293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2981" y="3738562"/>
            <a:ext cx="4871293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72981" y="4519612"/>
            <a:ext cx="4871293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72981" y="5300662"/>
            <a:ext cx="4871293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15856" y="22812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15856" y="3062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15856" y="38433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15856" y="46243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5856" y="54054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691" y="2728912"/>
            <a:ext cx="85725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691" y="3509962"/>
            <a:ext cx="85725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691" y="4291012"/>
            <a:ext cx="85725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691" y="5072062"/>
            <a:ext cx="85725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2902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0527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9102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867275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72750" y="514350"/>
            <a:ext cx="990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Decision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57200"/>
            <a:ext cx="530423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SOLUTION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66750"/>
            <a:ext cx="556944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Introducing AIONOS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2447925"/>
            <a:ext cx="70331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Deterministic Policy Evaluation via Agentic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809875"/>
            <a:ext cx="5453806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AIONOS sits between unstructured conversational customer touchpoints and internal airline execution backends, guaranteeing that every response adheres strictly to tariff regulations and loyalty tier matrices.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2981" y="1928812"/>
            <a:ext cx="571901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JetBrains Mono"/>
              </a:rPr>
              <a:t>END-TO-END EXECUTION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2981" y="2281237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756" y="2319337"/>
            <a:ext cx="245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Inbound Natural Language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2981" y="3062287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8756" y="3100387"/>
            <a:ext cx="2536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Context &amp; Flight Status Grounding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2981" y="3843337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756" y="3881437"/>
            <a:ext cx="2476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Deterministic Policy Rules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2981" y="4624387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8756" y="4662487"/>
            <a:ext cx="2393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Resolution &amp; Eligibility Synthesis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2981" y="5405437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825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8756" y="5443537"/>
            <a:ext cx="3155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Automated Execution OR Human Handoff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50" y="3600450"/>
            <a:ext cx="520615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Compound Intent Disambiguation: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Inter"/>
              </a:rPr>
              <a:t> Separates multi-part customer statements into distinct evaluable claims.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50" y="4076700"/>
            <a:ext cx="6167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Contextual Ingestion: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Inter"/>
              </a:rPr>
              <a:t> Merges PNR details, traveler tier, and verified flight delays.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50" y="4362450"/>
            <a:ext cx="520615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Explainable Output Generation: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Inter"/>
              </a:rPr>
              <a:t> Produces transparent reasoning traces alongside actionable outcomes.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4838700"/>
            <a:ext cx="520615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Rigid Escalation Safeguards: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Inter"/>
              </a:rPr>
              <a:t> Flags uncodified exceptions directly to human supervisors.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44075" y="457200"/>
            <a:ext cx="183832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745235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22190"/>
            <a:ext cx="1733550" cy="1994445"/>
          </a:xfrm>
          <a:prstGeom prst="roundRect">
            <a:avLst>
              <a:gd name="adj" fmla="val 5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57450" y="2522190"/>
            <a:ext cx="1733550" cy="1994445"/>
          </a:xfrm>
          <a:prstGeom prst="roundRect">
            <a:avLst>
              <a:gd name="adj" fmla="val 5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5300" y="2522190"/>
            <a:ext cx="1733550" cy="1994445"/>
          </a:xfrm>
          <a:prstGeom prst="roundRect">
            <a:avLst>
              <a:gd name="adj" fmla="val 5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53150" y="2522190"/>
            <a:ext cx="1733550" cy="1994445"/>
          </a:xfrm>
          <a:prstGeom prst="roundRect">
            <a:avLst>
              <a:gd name="adj" fmla="val 5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2522190"/>
            <a:ext cx="1733550" cy="1994445"/>
          </a:xfrm>
          <a:prstGeom prst="roundRect">
            <a:avLst>
              <a:gd name="adj" fmla="val 5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48850" y="2522190"/>
            <a:ext cx="1733550" cy="1994445"/>
          </a:xfrm>
          <a:prstGeom prst="roundRect">
            <a:avLst>
              <a:gd name="adj" fmla="val 549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525" y="4021335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19375" y="4021335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7225" y="3830835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5075" y="4021335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2925" y="4021335"/>
            <a:ext cx="140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10775" y="4021335"/>
            <a:ext cx="1409700" cy="9525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907160"/>
            <a:ext cx="104775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58375" y="514350"/>
            <a:ext cx="1704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6-Stage Sequential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70425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WORKFLOW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66750"/>
            <a:ext cx="7394674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From Customer Message to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888110"/>
            <a:ext cx="9251156" cy="15240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Governance Gate: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The LLM never directly authorizes funds or vouchers without passing Stage 4 deterministic 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4888110"/>
            <a:ext cx="158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Stateless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2722215"/>
            <a:ext cx="1504950" cy="99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Inter"/>
              </a:rPr>
              <a:t>STEP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4116585"/>
            <a:ext cx="1504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NLU / NER Parsing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9375" y="2722215"/>
            <a:ext cx="1504950" cy="99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Inter"/>
              </a:rPr>
              <a:t>STEP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9375" y="4116585"/>
            <a:ext cx="1504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Context 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7225" y="2722215"/>
            <a:ext cx="1504950" cy="99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Inter"/>
              </a:rPr>
              <a:t>STEP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7225" y="3926085"/>
            <a:ext cx="15049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Chroma / Vector Lookup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075" y="2722215"/>
            <a:ext cx="1504950" cy="99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Inter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075" y="4116585"/>
            <a:ext cx="1504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Deterministic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2925" y="2722215"/>
            <a:ext cx="1504950" cy="115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Inter"/>
              </a:rPr>
              <a:t>STEP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2925" y="4116585"/>
            <a:ext cx="1504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Decision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0775" y="2722215"/>
            <a:ext cx="1504950" cy="99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D4ED8"/>
                </a:solidFill>
                <a:latin typeface="Inter"/>
              </a:rPr>
              <a:t>STEP 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0775" y="4116585"/>
            <a:ext cx="1504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2563EB"/>
                </a:solidFill>
                <a:latin typeface="Inter"/>
              </a:rPr>
              <a:t>Execution Dispatch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" y="2988915"/>
            <a:ext cx="18502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Intent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3236565"/>
            <a:ext cx="15049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Classifies primary &amp; secondary intent tokens from natural user input.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19375" y="2988915"/>
            <a:ext cx="18502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Context Retrieval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9375" y="3236565"/>
            <a:ext cx="15049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Extracts PNR records, traveler loyalty tier, and current flight telemetry.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7225" y="2988915"/>
            <a:ext cx="18502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Policy 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7225" y="3236565"/>
            <a:ext cx="15049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Queries relevant tariff, delay compensation, and accommodation policies.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075" y="2988915"/>
            <a:ext cx="18502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Eligibility 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075" y="3236565"/>
            <a:ext cx="15049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Validates requested items against hard thresholds (e.g. 4hr+ delay).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2925" y="2988915"/>
            <a:ext cx="18502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Resolution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2925" y="3236565"/>
            <a:ext cx="15049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Generates composite outcome: approved vouchers + rejected upgrade reasons.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0775" y="2988915"/>
            <a:ext cx="18502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Inter"/>
              </a:rPr>
              <a:t>Action / 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0775" y="3236565"/>
            <a:ext cx="15049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1E40AF"/>
                </a:solidFill>
                <a:latin typeface="Inter"/>
              </a:rPr>
              <a:t>Issues vouchers or hands off exception packet to desk agents.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53650" y="419100"/>
            <a:ext cx="1428750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143000"/>
            <a:ext cx="10972800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12193"/>
            <a:ext cx="10972800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481387"/>
            <a:ext cx="10972800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650581"/>
            <a:ext cx="10972800" cy="619125"/>
          </a:xfrm>
          <a:prstGeom prst="roundRect">
            <a:avLst>
              <a:gd name="adj" fmla="val 1230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5819775"/>
            <a:ext cx="10972800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81725" y="1309687"/>
            <a:ext cx="10477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43775" y="1309687"/>
            <a:ext cx="111442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500" y="1309687"/>
            <a:ext cx="138112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67925" y="1309687"/>
            <a:ext cx="13144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8300" y="2478881"/>
            <a:ext cx="15144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77075" y="2478881"/>
            <a:ext cx="13144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5825" y="2478881"/>
            <a:ext cx="12477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67900" y="2478881"/>
            <a:ext cx="15144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1700" y="3648075"/>
            <a:ext cx="13144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0450" y="3648075"/>
            <a:ext cx="124777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2525" y="3648075"/>
            <a:ext cx="111442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01250" y="3648075"/>
            <a:ext cx="138112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3675" y="4817268"/>
            <a:ext cx="164782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5800" y="4817268"/>
            <a:ext cx="124777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67875" y="4817268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14925" y="5986462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3725" y="5986462"/>
            <a:ext cx="15811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39175" y="5986462"/>
            <a:ext cx="13144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67925" y="5986462"/>
            <a:ext cx="1314450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962" y="1989534"/>
            <a:ext cx="76200" cy="952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3158728"/>
            <a:ext cx="76200" cy="952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4327921"/>
            <a:ext cx="76200" cy="952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5497115"/>
            <a:ext cx="76200" cy="95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67950" y="476250"/>
            <a:ext cx="129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Layered Separation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419100"/>
            <a:ext cx="530423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ENGINEERING BLUEPRINT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09600"/>
            <a:ext cx="556944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AIONOS Technical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1266825"/>
            <a:ext cx="2000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TIER 1: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2575" y="1980009"/>
            <a:ext cx="15716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5"/>
              </a:lnSpc>
            </a:pPr>
            <a:r>
              <a:rPr b="0" sz="750" i="0" u="none">
                <a:solidFill>
                  <a:srgbClr val="64748B"/>
                </a:solidFill>
                <a:latin typeface="JetBrains Mono"/>
              </a:rPr>
              <a:t>REST / JSON over HTTPS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2436018"/>
            <a:ext cx="2000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TIER 2: API ROUTING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625" y="3605212"/>
            <a:ext cx="2000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TIER 3: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625" y="4774406"/>
            <a:ext cx="2000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D4ED8"/>
                </a:solidFill>
                <a:latin typeface="Inter"/>
              </a:rPr>
              <a:t>TIER 4: AI 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625" y="5943600"/>
            <a:ext cx="2000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TIER 5: 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" y="1476375"/>
            <a:ext cx="2381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React 19.2 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6025" y="1366837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Vite Bundler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8075" y="1366837"/>
            <a:ext cx="981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Zustand 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1366837"/>
            <a:ext cx="1247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Axios HTTP Client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2225" y="1366837"/>
            <a:ext cx="118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Native WebSocket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625" y="2645568"/>
            <a:ext cx="2381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FastAPI Application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62600" y="2536031"/>
            <a:ext cx="1381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Python 3.12 Runtime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91375" y="2536031"/>
            <a:ext cx="118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Pydantic Schemas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20125" y="2536031"/>
            <a:ext cx="1114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CORS Middleware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82200" y="2536031"/>
            <a:ext cx="1381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Asynchronous Routes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625" y="3814762"/>
            <a:ext cx="2381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Application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0" y="3705225"/>
            <a:ext cx="118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Customer 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4750" y="3705225"/>
            <a:ext cx="1114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Booking Service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6825" y="3705225"/>
            <a:ext cx="9810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Policy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5550" y="3705225"/>
            <a:ext cx="1247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Action Dispatcher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625" y="4983956"/>
            <a:ext cx="2381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3A8A"/>
                </a:solidFill>
                <a:latin typeface="Inter"/>
              </a:rPr>
              <a:t>Agent Decisioning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7975" y="4874418"/>
            <a:ext cx="1514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40AF"/>
                </a:solidFill>
                <a:latin typeface="JetBrains Mono"/>
              </a:rPr>
              <a:t>LangGraph State Graph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0100" y="4874418"/>
            <a:ext cx="1114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40AF"/>
                </a:solidFill>
                <a:latin typeface="JetBrains Mono"/>
              </a:rPr>
              <a:t>LangChain Tools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2175" y="4874418"/>
            <a:ext cx="1581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40AF"/>
                </a:solidFill>
                <a:latin typeface="JetBrains Mono"/>
              </a:rPr>
              <a:t>Specialized Sub-Agents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625" y="6153150"/>
            <a:ext cx="2381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Data &amp; Vector Store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29225" y="6043612"/>
            <a:ext cx="1581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Chroma DB Vector Store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8025" y="6043612"/>
            <a:ext cx="1447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JSON Tariff Catalogs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53475" y="6043612"/>
            <a:ext cx="118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Customer Records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82225" y="6043612"/>
            <a:ext cx="118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Flight Telemetry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20300" y="457200"/>
            <a:ext cx="1562100" cy="266700"/>
          </a:xfrm>
          <a:prstGeom prst="roundRect">
            <a:avLst>
              <a:gd name="adj" fmla="val 2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04119"/>
            <a:ext cx="10972800" cy="771525"/>
          </a:xfrm>
          <a:prstGeom prst="roundRect">
            <a:avLst>
              <a:gd name="adj" fmla="val 1234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282505"/>
            <a:ext cx="109728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3550" y="2256532"/>
            <a:ext cx="2000250" cy="266700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251894"/>
            <a:ext cx="2643187" cy="862905"/>
          </a:xfrm>
          <a:prstGeom prst="roundRect">
            <a:avLst>
              <a:gd name="adj" fmla="val 8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6137" y="3251894"/>
            <a:ext cx="2643187" cy="862905"/>
          </a:xfrm>
          <a:prstGeom prst="roundRect">
            <a:avLst>
              <a:gd name="adj" fmla="val 8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2675" y="3251894"/>
            <a:ext cx="2643187" cy="862905"/>
          </a:xfrm>
          <a:prstGeom prst="roundRect">
            <a:avLst>
              <a:gd name="adj" fmla="val 8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9212" y="3251894"/>
            <a:ext cx="2643187" cy="862905"/>
          </a:xfrm>
          <a:prstGeom prst="roundRect">
            <a:avLst>
              <a:gd name="adj" fmla="val 8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4248150"/>
            <a:ext cx="2643187" cy="862905"/>
          </a:xfrm>
          <a:prstGeom prst="roundRect">
            <a:avLst>
              <a:gd name="adj" fmla="val 8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6137" y="4248150"/>
            <a:ext cx="2643187" cy="862905"/>
          </a:xfrm>
          <a:prstGeom prst="roundRect">
            <a:avLst>
              <a:gd name="adj" fmla="val 8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2675" y="4248150"/>
            <a:ext cx="2643187" cy="862905"/>
          </a:xfrm>
          <a:prstGeom prst="roundRect">
            <a:avLst>
              <a:gd name="adj" fmla="val 110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9212" y="4248150"/>
            <a:ext cx="2643187" cy="862905"/>
          </a:xfrm>
          <a:prstGeom prst="roundRect">
            <a:avLst>
              <a:gd name="adj" fmla="val 110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947094"/>
            <a:ext cx="1524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9382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2304157"/>
            <a:ext cx="1905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428107"/>
            <a:ext cx="1333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062" y="3428107"/>
            <a:ext cx="17145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428107"/>
            <a:ext cx="1714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1137" y="3428107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424362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8062" y="4424362"/>
            <a:ext cx="10477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4424362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1137" y="4424362"/>
            <a:ext cx="11430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134600" y="514350"/>
            <a:ext cx="1428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Orchestrator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57200"/>
            <a:ext cx="656629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AGENT 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66750"/>
            <a:ext cx="689461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Multi-Agent Resolution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2313682"/>
            <a:ext cx="1828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Decoupled Domain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" y="5396805"/>
            <a:ext cx="9977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Design Principle: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"The orchestrator coordinates specialized reasoning rather than forcing a single monolithic prompt to handle all logic."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0" y="5396805"/>
            <a:ext cx="2000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LangGraph Directed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3632894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Deconstructs multi-part requests into discrete semantic goals.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8062" y="3632894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Binds frequent flyer tier, loyalty history, and segment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632894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Validates PNR route status, delay logs, and airport conditions.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1137" y="3632894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Fetches regulatory mandates and airline compensation limits.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4629150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Evaluates criteria matches (delay threshold, fare conditions).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8062" y="4629150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Builds clear, auditable resolution packages with explanations.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4600" y="4629150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Routes out-of-policy requests with complete context briefings.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1137" y="4629150"/>
            <a:ext cx="241458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Dispatches digital meal vouchers or rebooking signals.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2194619"/>
            <a:ext cx="60507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Master Orchestrator Agent (LangGraph)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2432744"/>
            <a:ext cx="5762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Coordinates state propagation, intent routing, and step-wise validation traces.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075" y="3413819"/>
            <a:ext cx="114014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Intent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5712" y="3413819"/>
            <a:ext cx="156269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Customer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3413819"/>
            <a:ext cx="12601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Flight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1637" y="3413819"/>
            <a:ext cx="116014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Policy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075" y="4410075"/>
            <a:ext cx="138017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Eligibility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9037" y="4410075"/>
            <a:ext cx="14801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Resolution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4150" y="4410075"/>
            <a:ext cx="146018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Escalation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1637" y="4410075"/>
            <a:ext cx="119014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Action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66825"/>
            <a:ext cx="10972800" cy="61912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77400" y="457200"/>
            <a:ext cx="1905000" cy="266700"/>
          </a:xfrm>
          <a:prstGeom prst="roundRect">
            <a:avLst>
              <a:gd name="adj" fmla="val 21428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14550"/>
            <a:ext cx="3530649" cy="428625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2114550"/>
            <a:ext cx="3530649" cy="428625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2114550"/>
            <a:ext cx="3530649" cy="428625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25" y="1438275"/>
            <a:ext cx="723900" cy="276225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66900" y="1438275"/>
            <a:ext cx="495300" cy="276225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5575" y="1438275"/>
            <a:ext cx="1028700" cy="276225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57650" y="1438275"/>
            <a:ext cx="1181100" cy="276225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2125" y="1438275"/>
            <a:ext cx="800100" cy="276225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05600" y="1428750"/>
            <a:ext cx="1695450" cy="295275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7725" y="3443287"/>
            <a:ext cx="3054399" cy="314325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7725" y="3833812"/>
            <a:ext cx="3054399" cy="314325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8874" y="3257550"/>
            <a:ext cx="3054399" cy="314325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8874" y="3648075"/>
            <a:ext cx="3054399" cy="314325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0024" y="3257550"/>
            <a:ext cx="3054399" cy="314325"/>
          </a:xfrm>
          <a:prstGeom prst="roundRect">
            <a:avLst>
              <a:gd name="adj" fmla="val 18181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0024" y="3648075"/>
            <a:ext cx="3054399" cy="314325"/>
          </a:xfrm>
          <a:prstGeom prst="roundRect">
            <a:avLst>
              <a:gd name="adj" fmla="val 18181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52675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2352675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2352675"/>
            <a:ext cx="2667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419350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49" y="2419350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99" y="2419350"/>
            <a:ext cx="13335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91700" y="514350"/>
            <a:ext cx="1771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LLM + Deterministic Policies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57200"/>
            <a:ext cx="597098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GOVERNANCE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66750"/>
            <a:ext cx="626953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Policy-Aware Decisioning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" y="1495425"/>
            <a:ext cx="628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7825" y="1481137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2150" y="1495425"/>
            <a:ext cx="400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76500" y="1481137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0825" y="1495425"/>
            <a:ext cx="933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PNR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8575" y="1481137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2900" y="1495425"/>
            <a:ext cx="1085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Flight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53050" y="1481137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7375" y="1495425"/>
            <a:ext cx="704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JetBrains Mono"/>
              </a:rPr>
              <a:t>Policies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6525" y="1481137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9900" y="1485900"/>
            <a:ext cx="1562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Resolution 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6029325"/>
            <a:ext cx="38179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5803D"/>
                </a:solidFill>
                <a:latin typeface="JetBrains Mono"/>
              </a:rPr>
              <a:t>Direct Action Execution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8874" y="6029325"/>
            <a:ext cx="38179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2410C"/>
                </a:solidFill>
                <a:latin typeface="JetBrains Mono"/>
              </a:rPr>
              <a:t>Secondary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0024" y="6029325"/>
            <a:ext cx="38179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91C1C"/>
                </a:solidFill>
                <a:latin typeface="JetBrains Mono"/>
              </a:rPr>
              <a:t>Structured Human Transfer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2733675"/>
            <a:ext cx="3149649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Immediate automated execution within pre-approved tariff parameters. No human sign-off needed.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8874" y="2733675"/>
            <a:ext cx="31496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Requires secondary criteria evaluation (loyalty status, delay length, airport facilities).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0024" y="2733675"/>
            <a:ext cx="31496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Beyond automated limits. Generates a structured brief and hands off to human staff.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9675" y="2390775"/>
            <a:ext cx="23752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Inter"/>
              </a:rPr>
              <a:t>ELIGIBLE / AUTOMATED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025" y="3519487"/>
            <a:ext cx="29210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Inter"/>
              </a:rPr>
              <a:t>Meal Voucher:</a:t>
            </a:r>
            <a:r>
              <a:rPr b="0" sz="900" i="0" u="none">
                <a:solidFill>
                  <a:srgbClr val="166534"/>
                </a:solidFill>
                <a:latin typeface="Inter"/>
              </a:rPr>
              <a:t> 2h+ domestic delay verified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2025" y="3910012"/>
            <a:ext cx="29210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Inter"/>
              </a:rPr>
              <a:t>Full Refund:</a:t>
            </a:r>
            <a:r>
              <a:rPr b="0" sz="900" i="0" u="none">
                <a:solidFill>
                  <a:srgbClr val="166534"/>
                </a:solidFill>
                <a:latin typeface="Inter"/>
              </a:rPr>
              <a:t> Carrier flight cancellation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0824" y="2390775"/>
            <a:ext cx="243780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Inter"/>
              </a:rPr>
              <a:t>CONDITIONAL CRITERIA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3174" y="3333750"/>
            <a:ext cx="29210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A3412"/>
                </a:solidFill>
                <a:latin typeface="Inter"/>
              </a:rPr>
              <a:t>Lounge Access:</a:t>
            </a:r>
            <a:r>
              <a:rPr b="0" sz="900" i="0" u="none">
                <a:solidFill>
                  <a:srgbClr val="9A3412"/>
                </a:solidFill>
                <a:latin typeface="Inter"/>
              </a:rPr>
              <a:t> Delay ≥4h OR Gold/Platinum tier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3174" y="3724275"/>
            <a:ext cx="29210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A3412"/>
                </a:solidFill>
                <a:latin typeface="Inter"/>
              </a:rPr>
              <a:t>Hotel Stay:</a:t>
            </a:r>
            <a:r>
              <a:rPr b="0" sz="900" i="0" u="none">
                <a:solidFill>
                  <a:srgbClr val="9A3412"/>
                </a:solidFill>
                <a:latin typeface="Inter"/>
              </a:rPr>
              <a:t> Delay ≥6h covering overnight window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51974" y="2390775"/>
            <a:ext cx="276284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Inter"/>
              </a:rPr>
              <a:t>UNSUPPORTED / ESCALATE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4324" y="3333750"/>
            <a:ext cx="29210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Inter"/>
              </a:rPr>
              <a:t>Free Cabin Upgrade:</a:t>
            </a:r>
            <a:r>
              <a:rPr b="0" sz="900" i="0" u="none">
                <a:solidFill>
                  <a:srgbClr val="991B1B"/>
                </a:solidFill>
                <a:latin typeface="Inter"/>
              </a:rPr>
              <a:t> Commercial exception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4324" y="3724275"/>
            <a:ext cx="29210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Inter"/>
              </a:rPr>
              <a:t>Fare Difference Waiver:</a:t>
            </a:r>
            <a:r>
              <a:rPr b="0" sz="900" i="0" u="none">
                <a:solidFill>
                  <a:srgbClr val="991B1B"/>
                </a:solidFill>
                <a:latin typeface="Inter"/>
              </a:rPr>
              <a:t> Financial override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96475" y="457200"/>
            <a:ext cx="1685925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181100"/>
            <a:ext cx="3543300" cy="5219700"/>
          </a:xfrm>
          <a:prstGeom prst="roundRect">
            <a:avLst>
              <a:gd name="adj" fmla="val 26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24350" y="1181100"/>
            <a:ext cx="3543300" cy="5219700"/>
          </a:xfrm>
          <a:prstGeom prst="roundRect">
            <a:avLst>
              <a:gd name="adj" fmla="val 26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39100" y="1181100"/>
            <a:ext cx="3543300" cy="5219700"/>
          </a:xfrm>
          <a:prstGeom prst="roundRect">
            <a:avLst>
              <a:gd name="adj" fmla="val 26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5781675"/>
            <a:ext cx="3143250" cy="4191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4375" y="5781675"/>
            <a:ext cx="3143250" cy="4191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39125" y="5781675"/>
            <a:ext cx="3143250" cy="4191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625" y="1924050"/>
            <a:ext cx="314325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625" y="5781675"/>
            <a:ext cx="28575" cy="419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4375" y="1924050"/>
            <a:ext cx="314325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4375" y="5781675"/>
            <a:ext cx="28575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39125" y="1924050"/>
            <a:ext cx="314325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39125" y="5781675"/>
            <a:ext cx="28575" cy="419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33775" y="1381125"/>
            <a:ext cx="419100" cy="17145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5175" y="1381125"/>
            <a:ext cx="552450" cy="17145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6575" y="1381125"/>
            <a:ext cx="685800" cy="171450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0775" y="514350"/>
            <a:ext cx="1552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Three Prototype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458985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EMPIRICAL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7700"/>
            <a:ext cx="481935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Scenario-Based 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1647825"/>
            <a:ext cx="3929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SK-204 (DEL → GOI) · Status: </a:t>
            </a:r>
            <a:r>
              <a:rPr b="1" sz="900" i="0" u="none">
                <a:solidFill>
                  <a:srgbClr val="64748B"/>
                </a:solidFill>
                <a:latin typeface="Inter"/>
              </a:rPr>
              <a:t>Cancelled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5857875"/>
            <a:ext cx="30194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Split resolution: automatic refund dispatch + agent escalation ticket.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4375" y="1647825"/>
            <a:ext cx="3929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SK-118 (BOM → BLR) · Delay: </a:t>
            </a:r>
            <a:r>
              <a:rPr b="1" sz="900" i="0" u="none">
                <a:solidFill>
                  <a:srgbClr val="64748B"/>
                </a:solidFill>
                <a:latin typeface="Inter"/>
              </a:rPr>
              <a:t>4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200" y="5857875"/>
            <a:ext cx="30194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Explainable rejection: Hotel requires 6h+ delay or overnight disruption.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9125" y="1647825"/>
            <a:ext cx="3929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SK-305 (DEL → HYD) · Delay: </a:t>
            </a:r>
            <a:r>
              <a:rPr b="1" sz="900" i="0" u="none">
                <a:solidFill>
                  <a:srgbClr val="64748B"/>
                </a:solidFill>
                <a:latin typeface="Inter"/>
              </a:rPr>
              <a:t>6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2950" y="5857875"/>
            <a:ext cx="30194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Platinum benefits applied automatically; fee waiver requires manager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1381125"/>
            <a:ext cx="106013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Priya Nair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9975" y="1400175"/>
            <a:ext cx="3619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JetBrains Mono"/>
              </a:rPr>
              <a:t>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028825"/>
            <a:ext cx="3667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200275"/>
            <a:ext cx="3667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293B"/>
                </a:solidFill>
                <a:latin typeface="Inter"/>
              </a:rPr>
              <a:t>Full refund + Free upgrade to Business.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4375" y="1381125"/>
            <a:ext cx="151268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Arvind Kulkarni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1375" y="1400175"/>
            <a:ext cx="4953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JetBrains Mono"/>
              </a:rPr>
              <a:t>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9150" y="2028825"/>
            <a:ext cx="3667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9150" y="2200275"/>
            <a:ext cx="3667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293B"/>
                </a:solidFill>
                <a:latin typeface="Inter"/>
              </a:rPr>
              <a:t>Meal voucher, lounge entry &amp; hotel accommodation.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9125" y="1381125"/>
            <a:ext cx="124015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Meher Kaur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2775" y="1400175"/>
            <a:ext cx="628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PLATINUM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3900" y="2028825"/>
            <a:ext cx="3667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REQUEST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3900" y="2200275"/>
            <a:ext cx="3667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293B"/>
                </a:solidFill>
                <a:latin typeface="Inter"/>
              </a:rPr>
              <a:t>Hotel stay, new flight, and ₹2,000 fare waiver.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625" y="2566987"/>
            <a:ext cx="914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Full Refund: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86150" y="2562225"/>
            <a:ext cx="752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JetBrains Mono"/>
              </a:rPr>
              <a:t>ALLOWED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625" y="2776537"/>
            <a:ext cx="11620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Free Rebooking: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6100" y="2771775"/>
            <a:ext cx="1152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JetBrains Mono"/>
              </a:rPr>
              <a:t>ALLOWED (24h)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625" y="2986087"/>
            <a:ext cx="1285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Business Upgrade: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2800" y="2981325"/>
            <a:ext cx="885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JetBrains Mono"/>
              </a:rPr>
              <a:t>ESCALATED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4375" y="2566987"/>
            <a:ext cx="10572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Meal Voucher: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7025" y="2562225"/>
            <a:ext cx="1276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JetBrains Mono"/>
              </a:rPr>
              <a:t>ELIGIBLE (₹500)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4375" y="2776537"/>
            <a:ext cx="11334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Lounge Access: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771775"/>
            <a:ext cx="158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JetBrains Mono"/>
              </a:rPr>
              <a:t>ELIGIBLE (4h Delay)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4375" y="2986087"/>
            <a:ext cx="8763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Hotel Stay: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7475" y="2981325"/>
            <a:ext cx="1500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JetBrains Mono"/>
              </a:rPr>
              <a:t>NOT ELIGIBLE (&lt;6h)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39125" y="2566987"/>
            <a:ext cx="11144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Meal + Lounge: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48975" y="2562225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JetBrains Mono"/>
              </a:rPr>
              <a:t>ELIGIBLE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9125" y="2776537"/>
            <a:ext cx="11620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Overnight Hotel: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5550" y="2771775"/>
            <a:ext cx="158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JetBrains Mono"/>
              </a:rPr>
              <a:t>ELIGIBLE (6h Delay)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9125" y="2986087"/>
            <a:ext cx="9715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Fare Waiver: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2300" y="2981325"/>
            <a:ext cx="885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JetBrains Mono"/>
              </a:rPr>
              <a:t>ESCALATED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81100"/>
            <a:ext cx="10972800" cy="5219700"/>
          </a:xfrm>
          <a:prstGeom prst="roundRect">
            <a:avLst>
              <a:gd name="adj" fmla="val 18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20250" y="457200"/>
            <a:ext cx="1962150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1190625"/>
            <a:ext cx="10953750" cy="3524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1543050"/>
            <a:ext cx="10953750" cy="48482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1533525"/>
            <a:ext cx="10953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1543050"/>
            <a:ext cx="2667000" cy="4848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86125" y="1543050"/>
            <a:ext cx="5048250" cy="4848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34375" y="1543050"/>
            <a:ext cx="3238500" cy="48482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1543050"/>
            <a:ext cx="9525" cy="4848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1525" y="2409825"/>
            <a:ext cx="2352675" cy="71437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1525" y="3257550"/>
            <a:ext cx="2352675" cy="561975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4850" y="1543050"/>
            <a:ext cx="9525" cy="4848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1525" y="2114550"/>
            <a:ext cx="714375" cy="17145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8525" y="1933575"/>
            <a:ext cx="4023717" cy="47625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11947" y="2524125"/>
            <a:ext cx="4260502" cy="638175"/>
          </a:xfrm>
          <a:prstGeom prst="roundRect">
            <a:avLst>
              <a:gd name="adj" fmla="val 1194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86775" y="1981200"/>
            <a:ext cx="29337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86775" y="2581275"/>
            <a:ext cx="29337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5829300"/>
            <a:ext cx="4733925" cy="4095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905125"/>
            <a:ext cx="104775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014" y="5676900"/>
            <a:ext cx="1047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6827" y="6038850"/>
            <a:ext cx="114300" cy="114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34550" y="514350"/>
            <a:ext cx="1828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JetBrains Mono"/>
              </a:rPr>
              <a:t>Unified Tri-Pane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457200"/>
            <a:ext cx="500657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OPERATOR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47700"/>
            <a:ext cx="525690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Customer Resolution Console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750" y="1295400"/>
            <a:ext cx="34170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8BDF8"/>
                </a:solidFill>
                <a:latin typeface="JetBrains Mono"/>
              </a:rPr>
              <a:t>ACTIVE SESSION: PRIYA NAIR (PNR: SK-9011)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3525" y="1285875"/>
            <a:ext cx="3333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AIONOS Resolution Agent Console · v1.0.4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1695450"/>
            <a:ext cx="2447925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Inter"/>
              </a:rPr>
              <a:t>CUSTOMER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775" y="2505075"/>
            <a:ext cx="2257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Inter"/>
              </a:rPr>
              <a:t>FLIGHT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3352800"/>
            <a:ext cx="22574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Inter"/>
              </a:rPr>
              <a:t>TARIFF 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1905000"/>
            <a:ext cx="308788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Priya Nair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" y="2133600"/>
            <a:ext cx="6953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B45309"/>
                </a:solidFill>
                <a:latin typeface="JetBrains Mono"/>
              </a:rPr>
              <a:t>Gold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" y="2724150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SK-204 · DEL → GOI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300" y="2886075"/>
            <a:ext cx="2678906" cy="1333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C2626"/>
                </a:solidFill>
                <a:latin typeface="Inter"/>
              </a:rPr>
              <a:t>Status: Cancelled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" y="3571875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Economy Standard (Y-Fare)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8525" y="1695450"/>
            <a:ext cx="5917406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JetBrains Mono"/>
              </a:rPr>
              <a:t>CONVERSATION FEED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6775" y="1752600"/>
            <a:ext cx="12573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JetBrains Mono"/>
              </a:rPr>
              <a:t>POLICY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71875" y="2028825"/>
            <a:ext cx="38522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293B"/>
                </a:solidFill>
                <a:latin typeface="Inter"/>
              </a:rPr>
              <a:t>"My flight SK-204 was cancelled. I want my money back, or a seat on the morning flight in Business Class."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4822" y="2628900"/>
            <a:ext cx="407000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3A8A"/>
                </a:solidFill>
                <a:latin typeface="Inter"/>
              </a:rPr>
              <a:t>AIONOS Agent:</a:t>
            </a:r>
            <a:r>
              <a:rPr b="0" sz="900" i="0" u="none">
                <a:solidFill>
                  <a:srgbClr val="1E3A8A"/>
                </a:solidFill>
                <a:latin typeface="Inter"/>
              </a:rPr>
              <a:t> Under airline policy </a:t>
            </a:r>
            <a:r>
              <a:rPr b="0" sz="900" i="1" u="none">
                <a:solidFill>
                  <a:srgbClr val="1E3A8A"/>
                </a:solidFill>
                <a:latin typeface="Inter"/>
              </a:rPr>
              <a:t>POL-IRROPS-04</a:t>
            </a:r>
            <a:r>
              <a:rPr b="0" sz="900" i="0" u="none">
                <a:solidFill>
                  <a:srgbClr val="1E3A8A"/>
                </a:solidFill>
                <a:latin typeface="Inter"/>
              </a:rPr>
              <a:t>, you are eligible for a 100% refund or free rebooking. Complimentary cabin upgrades require supervisory approval.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1550" y="2266950"/>
            <a:ext cx="34051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Rule: Cancellation by carrier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1550" y="2867025"/>
            <a:ext cx="34051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Rule: Economy standard excludes class upgrade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1550" y="2085975"/>
            <a:ext cx="904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Full Refund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58500" y="2095500"/>
            <a:ext cx="7429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15803D"/>
                </a:solidFill>
                <a:latin typeface="JetBrains Mono"/>
              </a:rPr>
              <a:t>ELIGIBLE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1550" y="2686050"/>
            <a:ext cx="13144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Inter"/>
              </a:rPr>
              <a:t>Business Upgrade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87050" y="2695575"/>
            <a:ext cx="9144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B91C1C"/>
                </a:solidFill>
                <a:latin typeface="JetBrains Mono"/>
              </a:rPr>
              <a:t>UNSUPPORTED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86975" y="457200"/>
            <a:ext cx="1495425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04925"/>
            <a:ext cx="2072580" cy="50958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580" y="1304925"/>
            <a:ext cx="2072580" cy="50958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9560" y="1304925"/>
            <a:ext cx="2072580" cy="50958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4541" y="1304925"/>
            <a:ext cx="2072580" cy="50958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521" y="1304925"/>
            <a:ext cx="2072580" cy="50958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8675" y="2266950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8675" y="2771775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8675" y="3276600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53655" y="2266950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53655" y="2771775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3655" y="3409950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78635" y="2400300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78635" y="2905125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03616" y="2438400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03616" y="2943225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28596" y="2438400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28596" y="2943225"/>
            <a:ext cx="16344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524000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655" y="1524000"/>
            <a:ext cx="18097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635" y="1524000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616" y="1609725"/>
            <a:ext cx="180975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8596" y="1609725"/>
            <a:ext cx="180975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01275" y="514350"/>
            <a:ext cx="1362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Decoupled 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57200"/>
            <a:ext cx="631626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ENGINEERING FOUNDATIONS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66750"/>
            <a:ext cx="6632078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Technology Stack &amp;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" y="60483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Client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3655" y="60483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API 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8635" y="60483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Cognitive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3616" y="60483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Knowledge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8596" y="60483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475" y="1533525"/>
            <a:ext cx="119014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" y="1866900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React 19.2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2371725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Vite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75" y="2876550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Zustand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75" y="3381375"/>
            <a:ext cx="17296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Axios &amp; 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9880" y="1533525"/>
            <a:ext cx="11001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53655" y="1866900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Python 3.12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53655" y="2371725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FastAPI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53655" y="2876550"/>
            <a:ext cx="17296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Pydantic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3655" y="3514725"/>
            <a:ext cx="17296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Uvicorn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3435" y="1533525"/>
            <a:ext cx="151268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AGENT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78635" y="1866900"/>
            <a:ext cx="17296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LangGraph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8635" y="2505075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LangChain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8635" y="3009900"/>
            <a:ext cx="17296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Structured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9841" y="1524000"/>
            <a:ext cx="152612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DATA &amp; RETRIEVAL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3616" y="2038350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Chroma 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3616" y="2543175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Structured JSON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03616" y="3048000"/>
            <a:ext cx="17296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In-Memory 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4821" y="1524000"/>
            <a:ext cx="152612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DEVOPS &amp; DEPLOY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8596" y="2038350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Git &amp; GitHub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8596" y="2543175"/>
            <a:ext cx="172968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Docker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8596" y="3048000"/>
            <a:ext cx="17296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Vercel Ready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675" y="207645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Latest modern render lifecycle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675" y="25812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Next-gen lightning build tooling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675" y="308610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Minimalist state container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675" y="359092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HTTP &amp; live event streams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53655" y="207645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High performance typed 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53655" y="25812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Async ASGI micro-framework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53655" y="3086100"/>
            <a:ext cx="17296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Data validation &amp; schema contracts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53655" y="372427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Asynchronous server gateway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78635" y="2076450"/>
            <a:ext cx="17296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Cyclic multi-agent state machines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78635" y="271462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Prompt composition &amp; tooling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78635" y="321945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Role-bounded execution units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03616" y="224790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Vector embedding policy index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03616" y="275272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Deterministic rule catalogs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03616" y="325755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Session &amp; context management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28596" y="224790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Source control &amp; branching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28596" y="2752725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Reproducible containers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28596" y="3257550"/>
            <a:ext cx="204303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Monorepo serverless hosting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81100"/>
            <a:ext cx="10972800" cy="4933950"/>
          </a:xfrm>
          <a:prstGeom prst="roundRect">
            <a:avLst>
              <a:gd name="adj" fmla="val 19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01275" y="457200"/>
            <a:ext cx="1381125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9125" y="1190625"/>
          <a:ext cx="10953750" cy="32861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57250"/>
                <a:gridCol w="2286000"/>
                <a:gridCol w="2095500"/>
                <a:gridCol w="5715000"/>
              </a:tblGrid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JetBrains Mono"/>
                        </a:rPr>
                        <a:t>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JetBrains Mono"/>
                        </a:rPr>
                        <a:t>ENDPOINT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SUBSYSTEM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RESPONSIBILITY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6A34A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/api/health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Infrastructure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Uptime verification and readiness probe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6A34A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/api/customers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Customer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Retrieves customer personas for scenario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6A34A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/api/customers/{id}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Customer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Pulls profile, loyalty tier status, and travel history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6A34A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/api/bookings/{pnr}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Booking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Pulls ticket details, flight status, and operational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6A34A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/api/policies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Policy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Serves structured tariff and compensation guidelines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/api/chat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AI Agent Gateway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Receives message, triggers LangGraph orchestrator, returns decision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D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Action Dispatcher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Handles execution triggers (voucher issuance, rebooking, handoff)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6A34A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JetBrains Mono"/>
                        </a:rPr>
                        <a:t>/api/resolutions/{id}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Resolution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Fetches historical resolution audit logs and policy citations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15575" y="514350"/>
            <a:ext cx="1247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2563EB"/>
                </a:solidFill>
                <a:latin typeface="JetBrains Mono"/>
              </a:rPr>
              <a:t>OpenAPI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48400"/>
            <a:ext cx="8941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"FastAPI provides a lightweight, asynchronous REST layer mediating between the React UI and core resolution services."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15550" y="6257925"/>
            <a:ext cx="183356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Stateless JSON 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49589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INTERFACE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"/>
            <a:ext cx="52069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Backend &amp; REST API Contract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53650" y="457200"/>
            <a:ext cx="1428750" cy="26670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04925"/>
            <a:ext cx="6059685" cy="5095875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97885" y="1304925"/>
            <a:ext cx="4684514" cy="946546"/>
          </a:xfrm>
          <a:prstGeom prst="roundRect">
            <a:avLst>
              <a:gd name="adj" fmla="val 100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97885" y="3378547"/>
            <a:ext cx="4684514" cy="948481"/>
          </a:xfrm>
          <a:prstGeom prst="roundRect">
            <a:avLst>
              <a:gd name="adj" fmla="val 10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97885" y="5454104"/>
            <a:ext cx="4684514" cy="946546"/>
          </a:xfrm>
          <a:prstGeom prst="roundRect">
            <a:avLst>
              <a:gd name="adj" fmla="val 100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8675" y="3343275"/>
            <a:ext cx="562153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8675" y="3762375"/>
            <a:ext cx="562153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8675" y="4181475"/>
            <a:ext cx="562153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8675" y="4600575"/>
            <a:ext cx="562153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8675" y="5019675"/>
            <a:ext cx="562153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8675" y="5438775"/>
            <a:ext cx="562153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8675" y="5857875"/>
            <a:ext cx="562153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448050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867150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286250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705350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124450"/>
            <a:ext cx="1238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543550"/>
            <a:ext cx="12382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962650"/>
            <a:ext cx="123825" cy="123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67950" y="514350"/>
            <a:ext cx="129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JetBrains Mono"/>
              </a:rPr>
              <a:t>11/11 TESTS 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5488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QUALITY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66750"/>
            <a:ext cx="576322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Validation &amp; Engineering Rigor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1524000"/>
            <a:ext cx="702691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JetBrains Mono"/>
              </a:rPr>
              <a:t>TEST EXECUTION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8860" y="1485900"/>
            <a:ext cx="511313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Frontend-Backend Decoupling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8860" y="1724025"/>
            <a:ext cx="441781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Clean physical directory boundaries allowing independent CI builds, containerization, and scaling.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8860" y="3559522"/>
            <a:ext cx="511313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Environment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8860" y="3797647"/>
            <a:ext cx="4417814" cy="34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Dynamic baseURL binding via </a:t>
            </a:r>
            <a:r>
              <a:rPr b="0" sz="825" i="0" u="none">
                <a:solidFill>
                  <a:srgbClr val="2563EB"/>
                </a:solidFill>
                <a:latin typeface="Inter"/>
              </a:rPr>
              <a:t>VITE_API_BASE_URL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 across staging and production targets.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8860" y="5635079"/>
            <a:ext cx="511313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Strict CORS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8860" y="5873204"/>
            <a:ext cx="441781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Middleware whitelists prevent unauthorized origin requests to internal agent resolution endpoints.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" y="3429000"/>
            <a:ext cx="2238375" cy="1524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Frontend Production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9660" y="3438525"/>
            <a:ext cx="7524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" y="3848100"/>
            <a:ext cx="2178843" cy="1524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Backend Import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26310" y="3857625"/>
            <a:ext cx="8858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VALIDATED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4267200"/>
            <a:ext cx="2309812" cy="1524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Backend Unit &amp; Logic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6310" y="4276725"/>
            <a:ext cx="8858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11 PASSED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" y="4686300"/>
            <a:ext cx="2393156" cy="1524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Smoke Test: GET /api/health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6335" y="4695825"/>
            <a:ext cx="685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200 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500" y="5105400"/>
            <a:ext cx="2714625" cy="1524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Smoke Test: GET /api/customers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6335" y="5114925"/>
            <a:ext cx="685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200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500" y="5524500"/>
            <a:ext cx="2345531" cy="1524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Smoke Test: POST /api/chat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26335" y="5534025"/>
            <a:ext cx="685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" y="5943600"/>
            <a:ext cx="2559843" cy="1524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Smoke Test: POST /api/actions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6335" y="5953125"/>
            <a:ext cx="685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200 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86950" y="457200"/>
            <a:ext cx="1695450" cy="266700"/>
          </a:xfrm>
          <a:prstGeom prst="roundRect">
            <a:avLst>
              <a:gd name="adj" fmla="val 2142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38337"/>
            <a:ext cx="65913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2176462"/>
            <a:ext cx="611505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100387"/>
            <a:ext cx="6115050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4024312"/>
            <a:ext cx="6115050" cy="542925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948237"/>
            <a:ext cx="611505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05700" y="2286297"/>
            <a:ext cx="4076700" cy="1093142"/>
          </a:xfrm>
          <a:prstGeom prst="roundRect">
            <a:avLst>
              <a:gd name="adj" fmla="val 6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05700" y="3531840"/>
            <a:ext cx="4076700" cy="1091207"/>
          </a:xfrm>
          <a:prstGeom prst="roundRect">
            <a:avLst>
              <a:gd name="adj" fmla="val 69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05700" y="4775448"/>
            <a:ext cx="4076700" cy="605730"/>
          </a:xfrm>
          <a:prstGeom prst="roundRect">
            <a:avLst>
              <a:gd name="adj" fmla="val 1257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87" y="2852737"/>
            <a:ext cx="85725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5" y="3776662"/>
            <a:ext cx="85725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87" y="4700587"/>
            <a:ext cx="85725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237172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286125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4210050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5143500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8575" y="4937373"/>
            <a:ext cx="114300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01250" y="514350"/>
            <a:ext cx="1562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JetBrains Mono"/>
              </a:rPr>
              <a:t>Prototype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644723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TOPOLOGY &amp;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676959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Prototype Deployment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8100" y="2438697"/>
            <a:ext cx="3867150" cy="7883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ENTRY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8100" y="3684240"/>
            <a:ext cx="3867150" cy="786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PROTOTYPE SCOPE CLARITY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2381250"/>
            <a:ext cx="619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HTTPS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4100" y="3305175"/>
            <a:ext cx="9525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JetBrains Mono"/>
              </a:rPr>
              <a:t>Vercel CDN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3750" y="3776662"/>
            <a:ext cx="12573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b="0" sz="750" i="0" u="none">
                <a:solidFill>
                  <a:srgbClr val="64748B"/>
                </a:solidFill>
                <a:latin typeface="JetBrains Mono"/>
              </a:rPr>
              <a:t>VITE_API_BASE_URL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750" y="4229100"/>
            <a:ext cx="10858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A34A"/>
                </a:solidFill>
                <a:latin typeface="JetBrains Mono"/>
              </a:rPr>
              <a:t>FastAPI ASGI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775" y="5153025"/>
            <a:ext cx="8858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Stateless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7625" y="2695872"/>
            <a:ext cx="3848100" cy="521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FastAPI wraps into a single WSGI/ASGI handler via </a:t>
            </a:r>
            <a:r>
              <a:rPr b="0" sz="825" i="0" u="none">
                <a:solidFill>
                  <a:srgbClr val="2563EB"/>
                </a:solidFill>
                <a:latin typeface="Inter"/>
              </a:rPr>
              <a:t>api/index.py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to conform with Vercel's serverless function lifecycle.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7625" y="3941415"/>
            <a:ext cx="38481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Designed strictly as a portable demonstration architecture. Does not require external dedicated Kubernetes clusters or complex persistent volumes.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8575" y="4918323"/>
            <a:ext cx="3886200" cy="31998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92400E"/>
                </a:solidFill>
                <a:latin typeface="Inter"/>
              </a:rPr>
              <a:t>Transparency:</a:t>
            </a:r>
            <a:r>
              <a:rPr b="0" sz="900" i="0" u="none">
                <a:solidFill>
                  <a:srgbClr val="92400E"/>
                </a:solidFill>
                <a:latin typeface="Inter"/>
              </a:rPr>
              <a:t> No production GDS/airline booking systems are integrated in this build.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7300" y="2300287"/>
            <a:ext cx="178772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User / Support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7300" y="2462212"/>
            <a:ext cx="17025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Web Browser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5400" y="3224212"/>
            <a:ext cx="306288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3A8A"/>
                </a:solidFill>
                <a:latin typeface="Inter"/>
              </a:rPr>
              <a:t>Vercel Frontend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5400" y="3386137"/>
            <a:ext cx="291703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E40AF"/>
                </a:solidFill>
                <a:latin typeface="Inter"/>
              </a:rPr>
              <a:t>Root: </a:t>
            </a:r>
            <a:r>
              <a:rPr b="0" sz="825" i="0" u="none">
                <a:solidFill>
                  <a:srgbClr val="1E40AF"/>
                </a:solidFill>
                <a:latin typeface="Inter"/>
              </a:rPr>
              <a:t>frontend</a:t>
            </a:r>
            <a:r>
              <a:rPr b="0" sz="825" i="0" u="none">
                <a:solidFill>
                  <a:srgbClr val="1E40AF"/>
                </a:solidFill>
                <a:latin typeface="Inter"/>
              </a:rPr>
              <a:t> · React 19 + Vite Static Assets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6350" y="4148137"/>
            <a:ext cx="258782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532D"/>
                </a:solidFill>
                <a:latin typeface="Inter"/>
              </a:rPr>
              <a:t>Vercel Serverless 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6350" y="4310062"/>
            <a:ext cx="24645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66534"/>
                </a:solidFill>
                <a:latin typeface="Inter"/>
              </a:rPr>
              <a:t>Root: </a:t>
            </a:r>
            <a:r>
              <a:rPr b="0" sz="825" i="0" u="none">
                <a:solidFill>
                  <a:srgbClr val="166534"/>
                </a:solidFill>
                <a:latin typeface="Inter"/>
              </a:rPr>
              <a:t>backend</a:t>
            </a:r>
            <a:r>
              <a:rPr b="0" sz="825" i="0" u="none">
                <a:solidFill>
                  <a:srgbClr val="166534"/>
                </a:solidFill>
                <a:latin typeface="Inter"/>
              </a:rPr>
              <a:t> · Entry: </a:t>
            </a:r>
            <a:r>
              <a:rPr b="0" sz="825" i="0" u="none">
                <a:solidFill>
                  <a:srgbClr val="166534"/>
                </a:solidFill>
                <a:latin typeface="Inter"/>
              </a:rPr>
              <a:t>api/index.py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5400" y="5072062"/>
            <a:ext cx="353794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In-Process Resolution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5400" y="5233987"/>
            <a:ext cx="336946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LangGraph Agents + Embedded Chroma Vector Index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0350" y="457200"/>
            <a:ext cx="116205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66825"/>
            <a:ext cx="3530649" cy="5133975"/>
          </a:xfrm>
          <a:prstGeom prst="roundRect">
            <a:avLst>
              <a:gd name="adj" fmla="val 26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266825"/>
            <a:ext cx="3530649" cy="5133975"/>
          </a:xfrm>
          <a:prstGeom prst="roundRect">
            <a:avLst>
              <a:gd name="adj" fmla="val 26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266825"/>
            <a:ext cx="3530649" cy="5133975"/>
          </a:xfrm>
          <a:prstGeom prst="roundRect">
            <a:avLst>
              <a:gd name="adj" fmla="val 26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1828800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2486025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143250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68874" y="1828800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68874" y="2486025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8874" y="3143250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90024" y="1828800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90024" y="2486025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90024" y="3143250"/>
            <a:ext cx="3054399" cy="561975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04950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1504950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1504950"/>
            <a:ext cx="2190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34650" y="514350"/>
            <a:ext cx="1028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JetBrains Mono"/>
              </a:rPr>
              <a:t>Future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5357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FORWARD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66750"/>
            <a:ext cx="562570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From Prototype to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6029325"/>
            <a:ext cx="38179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Target Compliance: SOC2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8874" y="6029325"/>
            <a:ext cx="38179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Target: 10k Concurrency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024" y="6029325"/>
            <a:ext cx="38179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Post-MVP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475" y="1504950"/>
            <a:ext cx="233779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ENTERPRISE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" y="1924050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RBAC &amp; Auth0: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" y="2581275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PII Masking: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" y="3238500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Immutable Audit Logs: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4624" y="1504950"/>
            <a:ext cx="156269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SYSTEM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124" y="1924050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Async Queue Processing: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4124" y="2581275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Distributed Caching: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4124" y="3238500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Horizontally Scaled Pods: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4349" y="1504950"/>
            <a:ext cx="251281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FUTURE AI CAPABILITIES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274" y="1924050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Confidence Escalation: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274" y="2581275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Automated Evals: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274" y="3238500"/>
            <a:ext cx="29591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Native Airline GDS: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" y="2143125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Strict operator role segregation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" y="2800350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Redact passport &amp; payment info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" y="3457575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Cryptographic decision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3649" y="2143125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RabbitMQ / Celery worker tiers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3649" y="2800350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Redis policy &amp; flight telemetry caches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3649" y="3457575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Kubernetes auto-scaling on 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799" y="2143125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Dynamic threshold uncertainty handoff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799" y="2800350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RAGAS &amp; LangSmith accuracy benchmarks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799" y="3457575"/>
            <a:ext cx="355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Direct Amadeus / Sabre integrations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39350" y="457200"/>
            <a:ext cx="1543050" cy="2667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04925"/>
            <a:ext cx="5372100" cy="5095875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304925"/>
            <a:ext cx="5372100" cy="5095875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5772150"/>
            <a:ext cx="4895850" cy="390525"/>
          </a:xfrm>
          <a:prstGeom prst="roundRect">
            <a:avLst>
              <a:gd name="adj" fmla="val 14634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8425" y="5772150"/>
            <a:ext cx="4895850" cy="390525"/>
          </a:xfrm>
          <a:prstGeom prst="roundRect">
            <a:avLst>
              <a:gd name="adj" fmla="val 1463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157412"/>
            <a:ext cx="15240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05062"/>
            <a:ext cx="152400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52712"/>
            <a:ext cx="152400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00362"/>
            <a:ext cx="152400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15741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405062"/>
            <a:ext cx="15240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652712"/>
            <a:ext cx="15240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900362"/>
            <a:ext cx="152400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53650" y="514350"/>
            <a:ext cx="1409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Workflow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426839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PARADIGM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448181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What AIONOS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1590675"/>
            <a:ext cx="15001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C2626"/>
                </a:solidFill>
                <a:latin typeface="JetBrains Mono"/>
              </a:rPr>
              <a:t>CONVENTIONAL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1790700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Fragmented Human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5895975"/>
            <a:ext cx="5810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91B1B"/>
                </a:solidFill>
                <a:latin typeface="Inter"/>
              </a:rPr>
              <a:t>High handle times &amp; inconsistent regulatory compliance.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1590675"/>
            <a:ext cx="12858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563EB"/>
                </a:solidFill>
                <a:latin typeface="JetBrains Mono"/>
              </a:rPr>
              <a:t>AIONOS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1790700"/>
            <a:ext cx="5743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Inter"/>
              </a:rPr>
              <a:t>Orchestrated Resolution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5895975"/>
            <a:ext cx="5619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Standardized operational precision with guaranteed governance.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375" y="2143125"/>
            <a:ext cx="3607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Disjointed manual lookups across 4+ siloed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" y="2390775"/>
            <a:ext cx="3559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Subjective policy interpretation causing variance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" y="2638425"/>
            <a:ext cx="3679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High cognitive burden handling multi-part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375" y="2886075"/>
            <a:ext cx="3429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Opaque chat responses without audit citations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6075" y="2143125"/>
            <a:ext cx="3667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Automated multi-intent decomposition in real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6075" y="2390775"/>
            <a:ext cx="3940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Rigid rule enforcement eliminating subjective 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6075" y="2638425"/>
            <a:ext cx="3988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Transparent decision trails citing specific tariff clauses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6075" y="2886075"/>
            <a:ext cx="3964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Clean escalation handoff for out-of-policy exceptions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762476"/>
            <a:ext cx="106680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762476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09875" y="3815506"/>
            <a:ext cx="1047750" cy="295275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23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7200" y="3815506"/>
            <a:ext cx="1276350" cy="295275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23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53125" y="3815506"/>
            <a:ext cx="895350" cy="295275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23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58050" y="3815506"/>
            <a:ext cx="819150" cy="295275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23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86775" y="3815506"/>
            <a:ext cx="895350" cy="295275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23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609600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695325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025" y="3905994"/>
            <a:ext cx="104775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950" y="3905994"/>
            <a:ext cx="104775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3905994"/>
            <a:ext cx="104775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905994"/>
            <a:ext cx="104775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2625" y="666750"/>
            <a:ext cx="11239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Inter"/>
              </a:rPr>
              <a:t>AIONOS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343" y="2032694"/>
            <a:ext cx="10501312" cy="143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Inter"/>
              </a:rPr>
              <a:t>"AIONOS transforms customer service from answer generation into policy-aware resolution."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1718" y="4453681"/>
            <a:ext cx="7548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AI where automation is safe. Humans where judgment is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475" y="6043463"/>
            <a:ext cx="3905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JetBrains Mono"/>
              </a:rPr>
              <a:t>Project Evaluation &amp; Architectural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6450" y="6000601"/>
            <a:ext cx="318789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Inter"/>
              </a:rPr>
              <a:t>Thank You ·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72675" y="6043463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8BDF8"/>
                </a:solidFill>
                <a:latin typeface="JetBrains Mono"/>
              </a:rPr>
              <a:t>github.com/aionos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0350" y="3872656"/>
            <a:ext cx="1066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8BDF8"/>
                </a:solidFill>
                <a:latin typeface="JetBrains Mono"/>
              </a:rPr>
              <a:t>UNDERSTAND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1006" y="3872656"/>
            <a:ext cx="13287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8BDF8"/>
                </a:solidFill>
                <a:latin typeface="JetBrains Mono"/>
              </a:rPr>
              <a:t>CONTEXTUALIZE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72656"/>
            <a:ext cx="914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8BDF8"/>
                </a:solidFill>
                <a:latin typeface="JetBrains Mono"/>
              </a:rP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8525" y="3872656"/>
            <a:ext cx="8382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8BDF8"/>
                </a:solidFill>
                <a:latin typeface="JetBrains Mono"/>
              </a:rPr>
              <a:t>RESOLVE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0" y="3872656"/>
            <a:ext cx="914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8BDF8"/>
                </a:solidFill>
                <a:latin typeface="JetBrains Mono"/>
              </a:rPr>
              <a:t>ESCALATE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